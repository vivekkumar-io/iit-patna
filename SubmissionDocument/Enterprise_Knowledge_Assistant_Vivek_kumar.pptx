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65C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828800"/>
            <a:ext cx="786384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Enterprise Knowledge Assistant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91840"/>
            <a:ext cx="78638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FFFFFF"/>
                </a:solidFill>
              </a:defRPr>
            </a:pPr>
            <a:r>
              <a:t>Project 2 — Advanced RAG Application</a:t>
            </a:r>
          </a:p>
          <a:p>
            <a:r>
              <a:t>Vivek Kumar | IIT Patna GenAI Development Program</a:t>
            </a:r>
          </a:p>
          <a:p>
            <a:r>
              <a:t>Oeeggis Corporation (Fictional — Academic Project)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565C0"/>
                </a:solidFill>
              </a:defRPr>
            </a:pPr>
            <a:r>
              <a:t>Problem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8046720" cy="530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Employees need quick answers from HR, IT, travel, and benefits policies.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Policy information is spread across multiple PDF and text documents.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Manual search is slow, inconsistent, and time-consuming.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Need: a reliable assistant that answers from official company documents only.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565C0"/>
                </a:solidFill>
              </a:defRPr>
            </a:pPr>
            <a:r>
              <a:t>Solution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8046720" cy="530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Built an Employee Knowledge Assistant using Retrieval-Augmented Generation (RAG).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Indexes local company documents and retrieves relevant chunks for each question.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Uses hybrid search + reranking for better accuracy.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Generates grounded answers with source citations in a Streamlit chat UI.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Remembers follow-up questions using conversational memory.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565C0"/>
                </a:solidFill>
              </a:defRPr>
            </a:pPr>
            <a:r>
              <a:t>Architecture Flow Diagram</a:t>
            </a:r>
          </a:p>
        </p:txBody>
      </p:sp>
      <p:pic>
        <p:nvPicPr>
          <p:cNvPr id="3" name="Picture 2" descr="architecture_flow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77240"/>
            <a:ext cx="8503920" cy="67208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</a:defRPr>
            </a:pPr>
            <a:r>
              <a:t>A: Indexing Pipeline (offline)  |  B: Query Pipeline (online)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565C0"/>
                </a:solidFill>
              </a:defRPr>
            </a:pPr>
            <a:r>
              <a:t>High-Level Architecture (ASCII)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" y="594360"/>
            <a:ext cx="8686800" cy="6126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  <a:defRPr sz="750">
                <a:solidFill>
                  <a:srgbClr val="1F2937"/>
                </a:solidFill>
                <a:latin typeface="Courier New"/>
              </a:defRPr>
            </a:pPr>
            <a:r>
              <a:t>Documents (PDF/TXT/DOCX)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750">
                <a:solidFill>
                  <a:srgbClr val="1F2937"/>
                </a:solidFill>
                <a:latin typeface="Courier New"/>
              </a:defRPr>
            </a:pPr>
            <a:r>
              <a:t>        |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750">
                <a:solidFill>
                  <a:srgbClr val="1F2937"/>
                </a:solidFill>
                <a:latin typeface="Courier New"/>
              </a:defRPr>
            </a:pPr>
            <a:r>
              <a:t>        v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750">
                <a:solidFill>
                  <a:srgbClr val="1F2937"/>
                </a:solidFill>
                <a:latin typeface="Courier New"/>
              </a:defRPr>
            </a:pPr>
            <a:r>
              <a:t>+-------------------+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750">
                <a:solidFill>
                  <a:srgbClr val="1F2937"/>
                </a:solidFill>
                <a:latin typeface="Courier New"/>
              </a:defRPr>
            </a:pPr>
            <a:r>
              <a:t>|  Document Loader  |  ingestion/loader.py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750">
                <a:solidFill>
                  <a:srgbClr val="1F2937"/>
                </a:solidFill>
                <a:latin typeface="Courier New"/>
              </a:defRPr>
            </a:pPr>
            <a:r>
              <a:t>+---------+---------+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750">
                <a:solidFill>
                  <a:srgbClr val="1F2937"/>
                </a:solidFill>
                <a:latin typeface="Courier New"/>
              </a:defRPr>
            </a:pPr>
            <a:r>
              <a:t>          v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750">
                <a:solidFill>
                  <a:srgbClr val="1F2937"/>
                </a:solidFill>
                <a:latin typeface="Courier New"/>
              </a:defRPr>
            </a:pPr>
            <a:r>
              <a:t>+-------------------+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750">
                <a:solidFill>
                  <a:srgbClr val="1F2937"/>
                </a:solidFill>
                <a:latin typeface="Courier New"/>
              </a:defRPr>
            </a:pPr>
            <a:r>
              <a:t>|     Chunker       |  ingestion/chunker.py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750">
                <a:solidFill>
                  <a:srgbClr val="1F2937"/>
                </a:solidFill>
                <a:latin typeface="Courier New"/>
              </a:defRPr>
            </a:pPr>
            <a:r>
              <a:t>+---------+---------+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750">
                <a:solidFill>
                  <a:srgbClr val="1F2937"/>
                </a:solidFill>
                <a:latin typeface="Courier New"/>
              </a:defRPr>
            </a:pPr>
            <a:r>
              <a:t>          v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750">
                <a:solidFill>
                  <a:srgbClr val="1F2937"/>
                </a:solidFill>
                <a:latin typeface="Courier New"/>
              </a:defRPr>
            </a:pPr>
            <a:r>
              <a:t>+-------------------+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750">
                <a:solidFill>
                  <a:srgbClr val="1F2937"/>
                </a:solidFill>
                <a:latin typeface="Courier New"/>
              </a:defRPr>
            </a:pPr>
            <a:r>
              <a:t>|   Embeddings      |  ingestion/embedder.py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750">
                <a:solidFill>
                  <a:srgbClr val="1F2937"/>
                </a:solidFill>
                <a:latin typeface="Courier New"/>
              </a:defRPr>
            </a:pPr>
            <a:r>
              <a:t>+---------+---------+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750">
                <a:solidFill>
                  <a:srgbClr val="1F2937"/>
                </a:solidFill>
                <a:latin typeface="Courier New"/>
              </a:defRPr>
            </a:pPr>
            <a:r>
              <a:t>          +----------------------+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750">
                <a:solidFill>
                  <a:srgbClr val="1F2937"/>
                </a:solidFill>
                <a:latin typeface="Courier New"/>
              </a:defRPr>
            </a:pPr>
            <a:r>
              <a:t>          v                      v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750">
                <a:solidFill>
                  <a:srgbClr val="1F2937"/>
                </a:solidFill>
                <a:latin typeface="Courier New"/>
              </a:defRPr>
            </a:pPr>
            <a:r>
              <a:t>+-------------------+    +-------------------+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750">
                <a:solidFill>
                  <a:srgbClr val="1F2937"/>
                </a:solidFill>
                <a:latin typeface="Courier New"/>
              </a:defRPr>
            </a:pPr>
            <a:r>
              <a:t>|  ChromaDB Vector  |    |    BM25 Index     |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750">
                <a:solidFill>
                  <a:srgbClr val="1F2937"/>
                </a:solidFill>
                <a:latin typeface="Courier New"/>
              </a:defRPr>
            </a:pPr>
            <a:r>
              <a:t>|      Store        |    |                   |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750">
                <a:solidFill>
                  <a:srgbClr val="1F2937"/>
                </a:solidFill>
                <a:latin typeface="Courier New"/>
              </a:defRPr>
            </a:pPr>
            <a:r>
              <a:t>+---------+---------+    +---------+---------+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750">
                <a:solidFill>
                  <a:srgbClr val="1F2937"/>
                </a:solidFill>
                <a:latin typeface="Courier New"/>
              </a:defRPr>
            </a:pPr>
            <a:r>
              <a:t>          |                        |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750">
                <a:solidFill>
                  <a:srgbClr val="1F2937"/>
                </a:solidFill>
                <a:latin typeface="Courier New"/>
              </a:defRPr>
            </a:pPr>
            <a:r>
              <a:t>          +------------+-----------+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750">
                <a:solidFill>
                  <a:srgbClr val="1F2937"/>
                </a:solidFill>
                <a:latin typeface="Courier New"/>
              </a:defRPr>
            </a:pPr>
            <a:r>
              <a:t>                       v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750">
                <a:solidFill>
                  <a:srgbClr val="1F2937"/>
                </a:solidFill>
                <a:latin typeface="Courier New"/>
              </a:defRPr>
            </a:pPr>
            <a:r>
              <a:t>            +-----------------------+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750">
                <a:solidFill>
                  <a:srgbClr val="1F2937"/>
                </a:solidFill>
                <a:latin typeface="Courier New"/>
              </a:defRPr>
            </a:pPr>
            <a:r>
              <a:t>            |   Hybrid Retriever    |  retrieval/hybrid_retriever.py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750">
                <a:solidFill>
                  <a:srgbClr val="1F2937"/>
                </a:solidFill>
                <a:latin typeface="Courier New"/>
              </a:defRPr>
            </a:pPr>
            <a:r>
              <a:t>            |   (Vector + BM25)     |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750">
                <a:solidFill>
                  <a:srgbClr val="1F2937"/>
                </a:solidFill>
                <a:latin typeface="Courier New"/>
              </a:defRPr>
            </a:pPr>
            <a:r>
              <a:t>            +-----------+-----------+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750">
                <a:solidFill>
                  <a:srgbClr val="1F2937"/>
                </a:solidFill>
                <a:latin typeface="Courier New"/>
              </a:defRPr>
            </a:pPr>
            <a:r>
              <a:t>                        v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750">
                <a:solidFill>
                  <a:srgbClr val="1F2937"/>
                </a:solidFill>
                <a:latin typeface="Courier New"/>
              </a:defRPr>
            </a:pPr>
            <a:r>
              <a:t>            +-----------------------+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750">
                <a:solidFill>
                  <a:srgbClr val="1F2937"/>
                </a:solidFill>
                <a:latin typeface="Courier New"/>
              </a:defRPr>
            </a:pPr>
            <a:r>
              <a:t>            |      Reranker         |  retrieval/reranker.py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750">
                <a:solidFill>
                  <a:srgbClr val="1F2937"/>
                </a:solidFill>
                <a:latin typeface="Courier New"/>
              </a:defRPr>
            </a:pPr>
            <a:r>
              <a:t>            +-----------+-----------+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750">
                <a:solidFill>
                  <a:srgbClr val="1F2937"/>
                </a:solidFill>
                <a:latin typeface="Courier New"/>
              </a:defRPr>
            </a:pPr>
            <a:r>
              <a:t>                        v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750">
                <a:solidFill>
                  <a:srgbClr val="1F2937"/>
                </a:solidFill>
                <a:latin typeface="Courier New"/>
              </a:defRPr>
            </a:pPr>
            <a:r>
              <a:t>            +-----------------------+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750">
                <a:solidFill>
                  <a:srgbClr val="1F2937"/>
                </a:solidFill>
                <a:latin typeface="Courier New"/>
              </a:defRPr>
            </a:pPr>
            <a:r>
              <a:t>            |   Context Builder     |  generation/guard.py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750">
                <a:solidFill>
                  <a:srgbClr val="1F2937"/>
                </a:solidFill>
                <a:latin typeface="Courier New"/>
              </a:defRPr>
            </a:pPr>
            <a:r>
              <a:t>            +-----------+-----------+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750">
                <a:solidFill>
                  <a:srgbClr val="1F2937"/>
                </a:solidFill>
                <a:latin typeface="Courier New"/>
              </a:defRPr>
            </a:pPr>
            <a:r>
              <a:t>                        v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750">
                <a:solidFill>
                  <a:srgbClr val="1F2937"/>
                </a:solidFill>
                <a:latin typeface="Courier New"/>
              </a:defRPr>
            </a:pPr>
            <a:r>
              <a:t>            +-----------------------+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750">
                <a:solidFill>
                  <a:srgbClr val="1F2937"/>
                </a:solidFill>
                <a:latin typeface="Courier New"/>
              </a:defRPr>
            </a:pPr>
            <a:r>
              <a:t>            |  LLM + Chat Memory    |  generation/chain.py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750">
                <a:solidFill>
                  <a:srgbClr val="1F2937"/>
                </a:solidFill>
                <a:latin typeface="Courier New"/>
              </a:defRPr>
            </a:pPr>
            <a:r>
              <a:t>            +-----------+-----------+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750">
                <a:solidFill>
                  <a:srgbClr val="1F2937"/>
                </a:solidFill>
                <a:latin typeface="Courier New"/>
              </a:defRPr>
            </a:pPr>
            <a:r>
              <a:t>                        v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750">
                <a:solidFill>
                  <a:srgbClr val="1F2937"/>
                </a:solidFill>
                <a:latin typeface="Courier New"/>
              </a:defRPr>
            </a:pPr>
            <a:r>
              <a:t>            +-----------------------+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750">
                <a:solidFill>
                  <a:srgbClr val="1F2937"/>
                </a:solidFill>
                <a:latin typeface="Courier New"/>
              </a:defRPr>
            </a:pPr>
            <a:r>
              <a:t>            |   Streamlit Chat UI   |  app/ui/chat.py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750">
                <a:solidFill>
                  <a:srgbClr val="1F2937"/>
                </a:solidFill>
                <a:latin typeface="Courier New"/>
              </a:defRPr>
            </a:pPr>
            <a:r>
              <a:t>            |  Answer + Sources     |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750">
                <a:solidFill>
                  <a:srgbClr val="1F2937"/>
                </a:solidFill>
                <a:latin typeface="Courier New"/>
              </a:defRPr>
            </a:pPr>
            <a:r>
              <a:t>            +-----------+-----------+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750">
                <a:solidFill>
                  <a:srgbClr val="1F2937"/>
                </a:solidFill>
                <a:latin typeface="Courier New"/>
              </a:defRPr>
            </a:pPr>
            <a:r>
              <a:t>                        v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750">
                <a:solidFill>
                  <a:srgbClr val="1F2937"/>
                </a:solidFill>
                <a:latin typeface="Courier New"/>
              </a:defRPr>
            </a:pPr>
            <a:r>
              <a:t>            +-----------------------+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750">
                <a:solidFill>
                  <a:srgbClr val="1F2937"/>
                </a:solidFill>
                <a:latin typeface="Courier New"/>
              </a:defRPr>
            </a:pPr>
            <a:r>
              <a:t>            |   Session Logger      |  util/logger.py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750">
                <a:solidFill>
                  <a:srgbClr val="1F2937"/>
                </a:solidFill>
                <a:latin typeface="Courier New"/>
              </a:defRPr>
            </a:pPr>
            <a:r>
              <a:t>            |  (cross-cutting)        |  -&gt; logs/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750">
                <a:solidFill>
                  <a:srgbClr val="1F2937"/>
                </a:solidFill>
                <a:latin typeface="Courier New"/>
              </a:defRPr>
            </a:pPr>
            <a:r>
              <a:t>            +-----------------------+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565C0"/>
                </a:solidFill>
              </a:defRPr>
            </a:pPr>
            <a:r>
              <a:t>Architecture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8046720" cy="530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Indexing: Documents → Loader → Chunker → Embeddings → ChromaDB + BM25.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Query: User input → route → memory rewrite → hybrid search → rerank → context builder → LLM.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Routing: greetings (UI); casual intros and memory questions get instant replies without retrieval.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Policy questions run the full RAG pipeline and return grounded answers.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Hallucination guard returns a safe not-found message when no relevant chunks are found.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Session logger (util/logger.py) records all pipeline steps, retrieval, and LLM I/O to logs/.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Streamlit UI shows chat history, Knowledge Scope filter, and Clear/Reset.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565C0"/>
                </a:solidFill>
              </a:defRPr>
            </a:pPr>
            <a:r>
              <a:t>Technology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8046720" cy="530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Language: Python 3.10+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UI: Streamlit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Framework: LangChain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LLM &amp; Embeddings: OpenAI (gpt-4o-mini, text-embedding-3-small)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Vector Database: ChromaDB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Keyword Search: BM25 (rank-bm25)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Reranking: sentence-transformers cross-encoder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Config: pydantic-settings + .env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565C0"/>
                </a:solidFill>
              </a:defRPr>
            </a:pPr>
            <a:r>
              <a:t>Key Features Implemented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8046720" cy="530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Document ingestion from local folder (PDF, DOCX, TXT)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Chunking, embeddings, and vector storage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Semantic retrieval + BM25 hybrid search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Cross-encoder reranking for relevance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Conversational memory for follow-up questions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Source citations displayed in the UI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Hallucination guard with clear not-found responses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Startup preload of search models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565C0"/>
                </a:solidFill>
              </a:defRPr>
            </a:pPr>
            <a:r>
              <a:t>Sample Documents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8046720" cy="530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Leave_Policy.pdf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HR_Handbook.pdf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IT_Policy.txt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Travel_Policy.txt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Benefits_Documentation.txt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Code_of_Conduct.txt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Company_FAQs.txt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Evaluator can run the app without creating data from scratch.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565C0"/>
                </a:solidFill>
              </a:defRPr>
            </a:pPr>
            <a:r>
              <a:t>Application UI — Home Screen</a:t>
            </a:r>
          </a:p>
        </p:txBody>
      </p:sp>
      <p:pic>
        <p:nvPicPr>
          <p:cNvPr id="3" name="Picture 2" descr="app_home_sc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868680"/>
            <a:ext cx="5394960" cy="26711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0" y="868680"/>
            <a:ext cx="2926080" cy="566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1F2937"/>
                </a:solidFill>
              </a:defRPr>
            </a:pPr>
            <a:r>
              <a:t>Header: Oeeggis Corporation branding and app title.</a:t>
            </a:r>
          </a:p>
          <a:p>
            <a:pPr>
              <a:spcAft>
                <a:spcPts val="600"/>
              </a:spcAft>
              <a:defRPr sz="1300">
                <a:solidFill>
                  <a:srgbClr val="1F2937"/>
                </a:solidFill>
              </a:defRPr>
            </a:pPr>
            <a:r>
              <a:t>Sidebar — Knowledge Scope lists all indexed policy documents.</a:t>
            </a:r>
          </a:p>
          <a:p>
            <a:pPr>
              <a:spcAft>
                <a:spcPts val="600"/>
              </a:spcAft>
              <a:defRPr sz="1300">
                <a:solidFill>
                  <a:srgbClr val="1F2937"/>
                </a:solidFill>
              </a:defRPr>
            </a:pPr>
            <a:r>
              <a:t>User can see which topics the assistant can answer from.</a:t>
            </a:r>
          </a:p>
          <a:p>
            <a:pPr>
              <a:spcAft>
                <a:spcPts val="600"/>
              </a:spcAft>
              <a:defRPr sz="1300">
                <a:solidFill>
                  <a:srgbClr val="1F2937"/>
                </a:solidFill>
              </a:defRPr>
            </a:pPr>
            <a:r>
              <a:t>Main chat area shows welcome message from the assistant.</a:t>
            </a:r>
          </a:p>
          <a:p>
            <a:pPr>
              <a:spcAft>
                <a:spcPts val="600"/>
              </a:spcAft>
              <a:defRPr sz="1300">
                <a:solidFill>
                  <a:srgbClr val="1F2937"/>
                </a:solidFill>
              </a:defRPr>
            </a:pPr>
            <a:r>
              <a:t>Chat input at bottom: type policy questions in natural language.</a:t>
            </a:r>
          </a:p>
          <a:p>
            <a:pPr>
              <a:spcAft>
                <a:spcPts val="600"/>
              </a:spcAft>
              <a:defRPr sz="1300">
                <a:solidFill>
                  <a:srgbClr val="1F2937"/>
                </a:solidFill>
              </a:defRPr>
            </a:pPr>
            <a:r>
              <a:t>Clear / Reset button clears chat history and memory.</a:t>
            </a:r>
          </a:p>
          <a:p>
            <a:pPr>
              <a:spcAft>
                <a:spcPts val="600"/>
              </a:spcAft>
              <a:defRPr sz="1300">
                <a:solidFill>
                  <a:srgbClr val="1F2937"/>
                </a:solidFill>
              </a:defRPr>
            </a:pPr>
            <a:r>
              <a:t>Footer disclaimer: academic/fictional company notice.</a:t>
            </a:r>
          </a:p>
          <a:p>
            <a:pPr>
              <a:spcAft>
                <a:spcPts val="600"/>
              </a:spcAft>
              <a:defRPr sz="1300">
                <a:solidFill>
                  <a:srgbClr val="1F2937"/>
                </a:solidFill>
              </a:defRPr>
            </a:pPr>
            <a:r>
              <a:t>On startup, search models preload in the background.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565C0"/>
                </a:solidFill>
              </a:defRPr>
            </a:pPr>
            <a:r>
              <a:t>UI Functionality Explained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8046720" cy="530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Knowledge Scope (sidebar): all 7 documents are searchable.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Chat interaction: ask HR, IT, travel, leave, and benefits questions.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Conversation history: previous messages stay visible in the chat.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Source citations: policy answers show document names below reply.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Follow-up support: e.g. 'What about carry-forward?' after leave policy.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Intro handling: casual messages get quick replies without policy search.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Hallucination guard: returns not-found message when data is missing.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Clear / Reset: starts a fresh session for a new conversation.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565C0"/>
                </a:solidFill>
              </a:defRPr>
            </a:pPr>
            <a:r>
              <a:t>Demo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8046720" cy="530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1. Run setup.bat and python scripts/ingest.py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2. Start app with start.bat → http://localhost:8501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3. Ask: What is the leave policy?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4. Follow-up: What about carry-forward?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5. Ask: What is the VPN policy?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6. Test not-found: What is the salary for the CEO?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7. Show source citations and Clear/Reset button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565C0"/>
                </a:solidFill>
              </a:defRPr>
            </a:pPr>
            <a:r>
              <a:t>Sample Output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8046720" cy="530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Q: What is the leave policy?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A: Summary from leave policy documents.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Sources: Leave_Policy.pdf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Q: What is the salary for the CEO?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A: I could not find this information in the available documents.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Q: Hi, my name is Abhishek from Bangalore.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A: Brief acknowledgement without unsolicited policy advice.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565C0"/>
                </a:solidFill>
              </a:defRPr>
            </a:pPr>
            <a:r>
              <a:t>Key Design Decisions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8046720" cy="530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Hybrid retrieval combines semantic meaning and exact keyword matches.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Reranking improves precision before sending context to the LLM.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Conversational routing skips document search for casual introductions.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Models preload at startup to reduce first-question delay.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Modular layers: ingestion, retrieval, generation, and app UI.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565C0"/>
                </a:solidFill>
              </a:defRPr>
            </a:pPr>
            <a:r>
              <a:t>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8046720" cy="530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Requires OpenAI API key (paid usage for embeddings and chat).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First startup may take 60–90 seconds while models load.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Answers limited to indexed documents only.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No user authentication or role-based access control.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Session-based memory (not persisted across server restarts).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565C0"/>
                </a:solidFill>
              </a:defRPr>
            </a:pPr>
            <a:r>
              <a:t>How to Run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8046720" cy="530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1. setup.bat (first time only)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2. copy .env.example .env and add OPENAI_API_KEY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3. python scripts/ingest.py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4. start.bat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5. Open http://localhost:8501</a:t>
            </a:r>
          </a:p>
          <a:p>
            <a:pPr>
              <a:spcAft>
                <a:spcPts val="800"/>
              </a:spcAft>
              <a:defRPr sz="1800">
                <a:solidFill>
                  <a:srgbClr val="1F2937"/>
                </a:solidFill>
              </a:defRPr>
            </a:pPr>
            <a:r>
              <a:t>Submission docs available in SubmissionDocument/ folder.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65C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828800"/>
            <a:ext cx="786384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91840"/>
            <a:ext cx="78638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FFFFFF"/>
                </a:solidFill>
              </a:defRPr>
            </a:pPr>
            <a:r>
              <a:t>Questions &amp; Discussion</a:t>
            </a:r>
          </a:p>
          <a:p/>
          <a:p>
            <a:r>
              <a:t>Vivek Kumar</a:t>
            </a:r>
          </a:p>
          <a:p>
            <a:r>
              <a:t>Enterprise Knowledge Assistant — Advanced RAG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